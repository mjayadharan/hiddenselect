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67665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Discovering sparse dynamics with multiple shooting and guess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65836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From noisy trajectory samples to the few governing terms — by solving a sequence of easier problems and carrying the answer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65836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Manu Jayadharan, Alasdair Hastewell, Niall Mangan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Figures and numbers: report R002 (11 September 2026), FitzHugh–Nagumo, Lotka–Volterra and Lorenz test systems</a:t>
            </a:r>
          </a:p>
        </p:txBody>
      </p:sp>
      <p:pic>
        <p:nvPicPr>
          <p:cNvPr id="6" name="Picture 5" descr="fig11_landscape_2d_v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280160"/>
            <a:ext cx="4206240" cy="1699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3052947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Cost landscape vs window size: smooth for short windows, rugged for single 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" y="621792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Noisy samples in, a sparse equation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Model discovery: choose which library terms are non-zero and estimate them by matching simulated trajectories to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44805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D55E00"/>
                </a:solidFill>
                <a:latin typeface="Calibri"/>
              </a:rPr>
              <a:t>▸  </a:t>
            </a:r>
            <a:r>
              <a:rPr sz="1600" b="1">
                <a:solidFill>
                  <a:srgbClr val="1E2761"/>
                </a:solidFill>
                <a:latin typeface="Calibri"/>
              </a:rPr>
              <a:t>Data. </a:t>
            </a:r>
            <a:r>
              <a:rPr sz="1600">
                <a:solidFill>
                  <a:srgbClr val="222222"/>
                </a:solidFill>
                <a:latin typeface="Calibri"/>
              </a:rPr>
              <a:t>N = 101 noisy samples of v(t), w(t) (FitzHugh–Nagumo), spacing Δt = 1, 5 % noise per component.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D55E00"/>
                </a:solidFill>
                <a:latin typeface="Calibri"/>
              </a:rPr>
              <a:t>▸  </a:t>
            </a:r>
            <a:r>
              <a:rPr sz="1600" b="1">
                <a:solidFill>
                  <a:srgbClr val="1E2761"/>
                </a:solidFill>
                <a:latin typeface="Calibri"/>
              </a:rPr>
              <a:t>Ansatz. </a:t>
            </a:r>
            <a:r>
              <a:rPr sz="1600">
                <a:solidFill>
                  <a:srgbClr val="222222"/>
                </a:solidFill>
                <a:latin typeface="Calibri"/>
              </a:rPr>
              <a:t>ẋᵢ = Σⱼ pᵢⱼ Θⱼ(x) over all monomials up to degree 3: 20 unknown coefficients, 7 truly non-zero.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D55E00"/>
                </a:solidFill>
                <a:latin typeface="Calibri"/>
              </a:rPr>
              <a:t>▸  </a:t>
            </a:r>
            <a:r>
              <a:rPr sz="1600" b="1">
                <a:solidFill>
                  <a:srgbClr val="1E2761"/>
                </a:solidFill>
                <a:latin typeface="Calibri"/>
              </a:rPr>
              <a:t>Single shooting. </a:t>
            </a:r>
            <a:r>
              <a:rPr sz="1600">
                <a:solidFill>
                  <a:srgbClr val="222222"/>
                </a:solidFill>
                <a:latin typeface="Calibri"/>
              </a:rPr>
              <a:t>Integrate from y₀ over the whole record and fit p. Errors in p and y₀ are amplified along the orbit: the cost is rugged, has a blow-up plateau, and a small wrong p costs 260× the true one.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D55E00"/>
                </a:solidFill>
                <a:latin typeface="Calibri"/>
              </a:rPr>
              <a:t>▸  </a:t>
            </a:r>
            <a:r>
              <a:rPr sz="1600" b="1">
                <a:solidFill>
                  <a:srgbClr val="1E2761"/>
                </a:solidFill>
                <a:latin typeface="Calibri"/>
              </a:rPr>
              <a:t>Consequence. </a:t>
            </a:r>
            <a:r>
              <a:rPr sz="1600">
                <a:solidFill>
                  <a:srgbClr val="222222"/>
                </a:solidFill>
                <a:latin typeface="Calibri"/>
              </a:rPr>
              <a:t>From a random start, the optimiser never finds the model (control arm: error stays at the seed, 1.65).</a:t>
            </a:r>
          </a:p>
        </p:txBody>
      </p:sp>
      <p:pic>
        <p:nvPicPr>
          <p:cNvPr id="7" name="Picture 6" descr="fig04_multiple_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4775389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5879592"/>
            <a:ext cx="57607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Same wrong p: single shooting (top) vs restarting every 10 samples (middle); residuals (bottom)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" y="621792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Multiple shooting, and the gap we 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Partition [t₀, t_N] into K windows; each window is integrated from the datum at its left node, with no continuity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Cost with K windows (κ data intervals each)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mbria"/>
              </a:rPr>
              <a:t>J_K(p) = Σₖ Σ_{tᵢ ∈ [τₖ₋₁, τₖ]} ‖ φ(tᵢ − τₖ₋₁; p, y_{τₖ₋₁}) − yᵢ ‖²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K = 1 is single shooting; κ = 1 (a node at every datum) is nearly convex.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669280" cy="29260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D55E00"/>
                </a:solidFill>
                <a:latin typeface="Calibri"/>
              </a:rPr>
              <a:t>▸  </a:t>
            </a:r>
            <a:r>
              <a:rPr sz="1600" b="1">
                <a:solidFill>
                  <a:srgbClr val="1E2761"/>
                </a:solidFill>
                <a:latin typeface="Calibri"/>
              </a:rPr>
              <a:t>Known. </a:t>
            </a:r>
            <a:r>
              <a:rPr sz="1600">
                <a:solidFill>
                  <a:srgbClr val="222222"/>
                </a:solidFill>
                <a:latin typeface="Calibri"/>
              </a:rPr>
              <a:t>Textbook multiple shooting makes the node states extra variables and enforces continuity — many more unknowns, constrained optimisation.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D55E00"/>
                </a:solidFill>
                <a:latin typeface="Calibri"/>
              </a:rPr>
              <a:t>▸  </a:t>
            </a:r>
            <a:r>
              <a:rPr sz="1600" b="1">
                <a:solidFill>
                  <a:srgbClr val="1E2761"/>
                </a:solidFill>
                <a:latin typeface="Calibri"/>
              </a:rPr>
              <a:t>Gap. </a:t>
            </a:r>
            <a:r>
              <a:rPr sz="1600">
                <a:solidFill>
                  <a:srgbClr val="222222"/>
                </a:solidFill>
                <a:latin typeface="Calibri"/>
              </a:rPr>
              <a:t>Nobody exploits the smooth-to-rugged family J₁, J₂, …, J_N directly: solve the easy problem first, then remove nodes gradually while carrying the minimiser forward.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D55E00"/>
                </a:solidFill>
                <a:latin typeface="Calibri"/>
              </a:rPr>
              <a:t>▸  </a:t>
            </a:r>
            <a:r>
              <a:rPr sz="1600" b="1">
                <a:solidFill>
                  <a:srgbClr val="1E2761"/>
                </a:solidFill>
                <a:latin typeface="Calibri"/>
              </a:rPr>
              <a:t>Needed. </a:t>
            </a:r>
            <a:r>
              <a:rPr sz="1600">
                <a:solidFill>
                  <a:srgbClr val="222222"/>
                </a:solidFill>
                <a:latin typeface="Calibri"/>
              </a:rPr>
              <a:t>A bound on how much the cost — and its minimiser — moves when nodes are removed, so the sweep stays inside the right basin.</a:t>
            </a:r>
          </a:p>
        </p:txBody>
      </p:sp>
      <p:pic>
        <p:nvPicPr>
          <p:cNvPr id="8" name="Picture 7" descr="fig03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303520" cy="28496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705884"/>
            <a:ext cx="53035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Fine partition (top) and the coarser one after deleting every other node (bottom): the elementary step of the sweep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501412"/>
            <a:ext cx="53035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Node removal changes the cost only on the windows next to the removed nodes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— by an amount that grows with the number of nodes removed and with the extra span ΔT₂ the surviving segment must cover (Proposition 1, next slides).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" y="621792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Our method: guess propagation across window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Solve the smooth problem first, then carry each minimiser into the next, more rugged landscape</a:t>
            </a:r>
          </a:p>
        </p:txBody>
      </p:sp>
      <p:pic>
        <p:nvPicPr>
          <p:cNvPr id="6" name="Picture 5" descr="fig06_guess_propa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949440" cy="41382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783080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Georgia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40280"/>
            <a:ext cx="4023360" cy="27432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222222"/>
                </a:solidFill>
                <a:latin typeface="Calibri"/>
              </a:rPr>
              <a:t>p_guess ← random start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222222"/>
                </a:solidFill>
                <a:latin typeface="Calibri"/>
              </a:rPr>
              <a:t>for κ = 1, 2, 3, … , N−1 (few nodes removed per step): p^(κ) ← argmin J_κ(p) from p_guess; p_guess ← p^(κ)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222222"/>
                </a:solidFill>
                <a:latin typeface="Calibri"/>
              </a:rPr>
              <a:t>polish with single shooting (κ = N−1) from p_guess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222222"/>
                </a:solidFill>
                <a:latin typeface="Calibri"/>
              </a:rPr>
              <a:t>sparsity: smooth-ℓ1 penalty γ Σ|pⱼ| inside every J_κ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846320"/>
            <a:ext cx="40233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Why it works: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the number of local minima along a random line grows from 1.3 (κ = 1) to 7.9 (κ = 100), but consecutive landscapes are close, so the carried guess stays in the right basin.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" y="621792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Georg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Theoretical results — and how tight they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Lipschitz constant L of the vector field, noise η, window length ΔT; strong convexity with modulus μ near the minimiser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Lemma 1 (flow sensitivity).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mbria"/>
              </a:rPr>
              <a:t>e^{−Lt} ‖x₁−x₂‖ ≤ ‖φ(t;x₁) − φ(t;x₂)‖ ≤ e^{Lt} ‖x₁−x₂‖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so the noise at a node is amplified by at most e^{LΔT} within a window instead of e^{L t_N} over the record.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Parameter error.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mbria"/>
              </a:rPr>
              <a:t>‖p* − p^(K)‖ ≤ √( (2/μ) [ N ‖η‖²_max (1 + e^{LΔT})² − J_K(p^(K)) ] 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Proposition 1 (node removal).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mbria"/>
              </a:rPr>
              <a:t>|Ĵ_K(p) − J_K(p)| ≤ 2 |I_R| C_max ( e^{L(ΔT₁+ΔT₂)} ‖η‖_max + e^{LΔT₁} [ (L̃/L)(e^{LΔT₂} − 1) ‖p − p*‖ + ‖η‖_max ] 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Design rule: remove few nodes at a time, keep ΔT₂ small, prefer low-noise nodes.</a:t>
            </a:r>
          </a:p>
        </p:txBody>
      </p:sp>
      <p:pic>
        <p:nvPicPr>
          <p:cNvPr id="7" name="Picture 6" descr="fig08_lemma1_flow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5486400" cy="21110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967294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Lemma 1 checked on FHN: 24 perturbed orbits (blue) stay below e^{Lt} (vermilion); the bound holds but is loose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26517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Georgia"/>
              </a:rPr>
              <a:t>≤ 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04688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measured amplification of a state perturbation on the FHN orbit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846320"/>
            <a:ext cx="26517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Georgia"/>
              </a:rPr>
              <a:t>10¹³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504688"/>
            <a:ext cx="26517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what e^{Lt} with L = 3.05 allows at t = 10: the bounds order the arms, not the sizes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" y="621792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Georg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Numerical results: FitzHugh–Nagumo, 8 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Same optimiser (Nelder–Mead, 2500 iterations per stage), same seeds, same 16-stage schedule, with and without propagation</a:t>
            </a:r>
          </a:p>
        </p:txBody>
      </p:sp>
      <p:pic>
        <p:nvPicPr>
          <p:cNvPr id="6" name="Picture 5" descr="fig15_sweep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680960" cy="26963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52563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Cost, parameter error and recovery score along the sweep; thin lines = seeds, thick = median. Blue: guess propagation; vermilion: restart from the seed every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737360"/>
            <a:ext cx="33832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Georgia"/>
              </a:rPr>
              <a:t>0.32 vs 1.65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95728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final ‖p − p*‖, propagation vs control (seed medians; start ≈ 1.6)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246120"/>
            <a:ext cx="33832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Georgia"/>
              </a:rPr>
              <a:t>7 of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904488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seeds where propagation is strictly better at every κ ≥ 2 (the 8th starts on the blow-up plateau)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754880"/>
            <a:ext cx="33832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Georgia"/>
              </a:rPr>
              <a:t>-1.14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413248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paired difference at κ = 100, 95 % bootstrap CI [-1.43, -0.77]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8091"/>
            <a:ext cx="7680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Also: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the parameter error is smallest at κ = 5 (0.22) and drifts to 0.32 at single shooting while the cost keeps falling — the sparsity term and noise bias the final polish, so stop on validation error, not on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" y="621792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Georg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What matters, and does it generalise?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Every variation re-run with the same seeds; numbers are seed medians at the end of the sweep</a:t>
            </a:r>
          </a:p>
        </p:txBody>
      </p:sp>
      <p:pic>
        <p:nvPicPr>
          <p:cNvPr id="6" name="Picture 5" descr="fig21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657600" cy="1234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47472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0.30 vs 0.76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3657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error with a dense schedule (44 steps) vs a 1→100 jump: remove few nodes per step</a:t>
            </a:r>
          </a:p>
        </p:txBody>
      </p:sp>
      <p:pic>
        <p:nvPicPr>
          <p:cNvPr id="9" name="Picture 8" descr="fig25_optimiz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83080"/>
            <a:ext cx="3657600" cy="15671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347472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0.21 / 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069080"/>
            <a:ext cx="3657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error / recovery score for BFGS with the exact AD gradient + propagation; gradients die on the flat plateau without it</a:t>
            </a:r>
          </a:p>
        </p:txBody>
      </p:sp>
      <p:pic>
        <p:nvPicPr>
          <p:cNvPr id="12" name="Picture 11" descr="fig36_loren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83080"/>
            <a:ext cx="3657600" cy="12349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347472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E2761"/>
                </a:solidFill>
                <a:latin typeface="Georgia"/>
              </a:rPr>
              <a:t>0.83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69080"/>
            <a:ext cx="3657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recovery score on Lorenz (30 coefficients, chaotic) with BFGS + propagation; the control blows up in 4 of 4 seeds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1155680" cy="1463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▸  </a:t>
            </a:r>
            <a:r>
              <a:rPr sz="1500" b="1">
                <a:solidFill>
                  <a:srgbClr val="1E2761"/>
                </a:solidFill>
                <a:latin typeface="Calibri"/>
              </a:rPr>
              <a:t>Robust to noise up to 10 % </a:t>
            </a:r>
            <a:r>
              <a:rPr sz="1500">
                <a:solidFill>
                  <a:srgbClr val="222222"/>
                </a:solidFill>
                <a:latin typeface="Calibri"/>
              </a:rPr>
              <a:t>(error 0.22–0.36); fails at 20 %. The control fails even at zero noise — the difficulty is the landscape, not the noise.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▸  </a:t>
            </a:r>
            <a:r>
              <a:rPr sz="1500" b="1">
                <a:solidFill>
                  <a:srgbClr val="1E2761"/>
                </a:solidFill>
                <a:latin typeface="Calibri"/>
              </a:rPr>
              <a:t>Lotka–Volterra: </a:t>
            </a:r>
            <a:r>
              <a:rPr sz="1500">
                <a:solidFill>
                  <a:srgbClr val="222222"/>
                </a:solidFill>
                <a:latin typeface="Calibri"/>
              </a:rPr>
              <a:t>error 0.29, score 0.83 with propagation; 5 of 6 control seeds blow up. A graded blow-up penalty rescues starts that begin on the plateau.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Takeaways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852160" cy="4846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▸  </a:t>
            </a:r>
            <a:r>
              <a:rPr sz="1500" b="1">
                <a:solidFill>
                  <a:srgbClr val="FFFFFF"/>
                </a:solidFill>
                <a:latin typeface="Calibri"/>
              </a:rPr>
              <a:t>Guess propagation works. </a:t>
            </a:r>
            <a:r>
              <a:rPr sz="1500">
                <a:solidFill>
                  <a:srgbClr val="CADCFC"/>
                </a:solidFill>
                <a:latin typeface="Calibri"/>
              </a:rPr>
              <a:t>Sweeping the window size and carrying the minimiser turns an unsolvable single-shooting fit into a reliable one (7 of 8 starts; paired CI excludes zero).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▸  </a:t>
            </a:r>
            <a:r>
              <a:rPr sz="1500" b="1">
                <a:solidFill>
                  <a:srgbClr val="FFFFFF"/>
                </a:solidFill>
                <a:latin typeface="Calibri"/>
              </a:rPr>
              <a:t>Three design rules. </a:t>
            </a:r>
            <a:r>
              <a:rPr sz="1500">
                <a:solidFill>
                  <a:srgbClr val="CADCFC"/>
                </a:solidFill>
                <a:latin typeface="Calibri"/>
              </a:rPr>
              <a:t>Remove few nodes per step; use a graded blow-up penalty; use a gradient method (BFGS through the integrator) once the sweep has started.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▸  </a:t>
            </a:r>
            <a:r>
              <a:rPr sz="1500" b="1">
                <a:solidFill>
                  <a:srgbClr val="FFFFFF"/>
                </a:solidFill>
                <a:latin typeface="Calibri"/>
              </a:rPr>
              <a:t>Theory is qualitative. </a:t>
            </a:r>
            <a:r>
              <a:rPr sz="1500">
                <a:solidFill>
                  <a:srgbClr val="CADCFC"/>
                </a:solidFill>
                <a:latin typeface="Calibri"/>
              </a:rPr>
              <a:t>The Lipschitz bounds order the arms correctly but are loose by orders of magnitude on an attracting orbit; strong convexity is not verified at Nelder–Mead's iterates.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▸  </a:t>
            </a:r>
            <a:r>
              <a:rPr sz="1500" b="1">
                <a:solidFill>
                  <a:srgbClr val="FFFFFF"/>
                </a:solidFill>
                <a:latin typeface="Calibri"/>
              </a:rPr>
              <a:t>Code audit. </a:t>
            </a:r>
            <a:r>
              <a:rPr sz="1500">
                <a:solidFill>
                  <a:srgbClr val="CADCFC"/>
                </a:solidFill>
                <a:latin typeface="Calibri"/>
              </a:rPr>
              <a:t>Six defects found and fixed (dropped w-residual, truncated Jacobian, wrong gradient, mixed monomial order, ignored data argument, disabled propagation) — every published number re-derived.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965960"/>
            <a:ext cx="4572000" cy="32004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CADCFC"/>
                </a:solidFill>
                <a:latin typeface="Calibri"/>
              </a:rPr>
              <a:t>Node removal chosen by node noise (the Note in Prop. 1), not by a fixed stride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CADCFC"/>
                </a:solidFill>
                <a:latin typeface="Calibri"/>
              </a:rPr>
              <a:t>Tighter bounds via the logarithmic norm (μ = 1.17 vs L = 3.05 for FHN)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CADCFC"/>
                </a:solidFill>
                <a:latin typeface="Calibri"/>
              </a:rPr>
              <a:t>Validation-based stopping of the sweep instead of running to single shooting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D55E00"/>
                </a:solidFill>
                <a:latin typeface="Calibri"/>
              </a:rPr>
              <a:t>→  </a:t>
            </a:r>
            <a:r>
              <a:rPr sz="1500">
                <a:solidFill>
                  <a:srgbClr val="CADCFC"/>
                </a:solidFill>
                <a:latin typeface="Calibri"/>
              </a:rPr>
              <a:t>Real data: unknown noise, partial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5394960"/>
            <a:ext cx="45720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Report R002: 37 figures, 6 animations, 18/18 gates — reports/2026-09-11-R002-multishooting-figure-atlas/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